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70" r:id="rId3"/>
    <p:sldId id="257" r:id="rId4"/>
    <p:sldId id="269" r:id="rId5"/>
    <p:sldId id="259" r:id="rId6"/>
    <p:sldId id="260" r:id="rId7"/>
    <p:sldId id="263" r:id="rId8"/>
    <p:sldId id="266" r:id="rId9"/>
    <p:sldId id="267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654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E8B6F6-3888-475F-8C40-20D711C1D9C5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3BBCA-1C12-42F1-8171-35253489D0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979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0584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rPr lang="en-US" sz="4400" b="1" dirty="0"/>
              <a:t>Local Deployment and Infrastructure Acceleration for a Financial QA System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857250" y="4348480"/>
            <a:ext cx="100584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88CCFF"/>
                </a:solidFill>
              </a:defRPr>
            </a:pPr>
            <a:r>
              <a:rPr lang="en-US" dirty="0"/>
              <a:t>Yuan Zhao</a:t>
            </a:r>
            <a:r>
              <a:rPr dirty="0"/>
              <a:t>|  May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5029200"/>
            <a:ext cx="2743200" cy="457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rPr dirty="0"/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06120" y="1854200"/>
            <a:ext cx="1371600" cy="54864"/>
          </a:xfrm>
          <a:prstGeom prst="rect">
            <a:avLst/>
          </a:prstGeom>
          <a:solidFill>
            <a:srgbClr val="006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EngBG"/>
          <p:cNvSpPr/>
          <p:nvPr/>
        </p:nvSpPr>
        <p:spPr>
          <a:xfrm>
            <a:off x="508000" y="1333500"/>
            <a:ext cx="11430000" cy="5080000"/>
          </a:xfrm>
          <a:prstGeom prst="roundRect">
            <a:avLst>
              <a:gd name="adj" fmla="val 2500"/>
            </a:avLst>
          </a:prstGeom>
          <a:solidFill>
            <a:srgbClr val="F0F4F8"/>
          </a:solidFill>
          <a:ln w="12700">
            <a:solidFill>
              <a:srgbClr val="C8D6E5"/>
            </a:solidFill>
            <a:prstDash val="dash"/>
          </a:ln>
        </p:spPr>
        <p:txBody>
          <a:bodyPr rIns="152400" bIns="101600" anchor="b"/>
          <a:lstStyle/>
          <a:p>
            <a:pPr algn="r"/>
            <a:endParaRPr lang="en-US" sz="1000" i="1" dirty="0">
              <a:solidFill>
                <a:srgbClr val="8899AA"/>
              </a:solidFill>
              <a:latin typeface="Segoe UI"/>
            </a:endParaRPr>
          </a:p>
        </p:txBody>
      </p:sp>
      <p:sp>
        <p:nvSpPr>
          <p:cNvPr id="11" name="UserQ"/>
          <p:cNvSpPr/>
          <p:nvPr/>
        </p:nvSpPr>
        <p:spPr>
          <a:xfrm>
            <a:off x="673100" y="3370580"/>
            <a:ext cx="1524000" cy="558800"/>
          </a:xfrm>
          <a:prstGeom prst="roundRect">
            <a:avLst>
              <a:gd name="adj" fmla="val 30000"/>
            </a:avLst>
          </a:prstGeom>
          <a:solidFill>
            <a:srgbClr val="1A1A2E"/>
          </a:solidFill>
          <a:ln w="0">
            <a:noFill/>
          </a:ln>
          <a:effectLst>
            <a:outerShdw blurRad="40000" dist="20000" dir="5400000" algn="tl" rotWithShape="0">
              <a:srgbClr val="000000">
                <a:alpha val="20000"/>
              </a:srgbClr>
            </a:outerShdw>
          </a:effectLst>
        </p:spPr>
        <p:txBody>
          <a:bodyPr lIns="0" tIns="0" rIns="0" bIns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Segoe UI"/>
              </a:rPr>
              <a:t>User Query</a:t>
            </a:r>
          </a:p>
        </p:txBody>
      </p:sp>
      <p:sp>
        <p:nvSpPr>
          <p:cNvPr id="12" name="A1"/>
          <p:cNvSpPr/>
          <p:nvPr/>
        </p:nvSpPr>
        <p:spPr>
          <a:xfrm>
            <a:off x="2235200" y="3586480"/>
            <a:ext cx="355600" cy="127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A90D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Router"/>
          <p:cNvSpPr/>
          <p:nvPr/>
        </p:nvSpPr>
        <p:spPr>
          <a:xfrm>
            <a:off x="2768600" y="3307080"/>
            <a:ext cx="1968500" cy="685800"/>
          </a:xfrm>
          <a:prstGeom prst="roundRect">
            <a:avLst>
              <a:gd name="adj" fmla="val 15000"/>
            </a:avLst>
          </a:prstGeom>
          <a:solidFill>
            <a:srgbClr val="4A90D9"/>
          </a:solidFill>
          <a:ln w="0">
            <a:noFill/>
          </a:ln>
          <a:effectLst>
            <a:outerShdw blurRad="50000" dist="25000" dir="5400000" algn="tl" rotWithShape="0">
              <a:srgbClr val="000000">
                <a:alpha val="22000"/>
              </a:srgbClr>
            </a:outerShdw>
          </a:effectLst>
        </p:spPr>
        <p:txBody>
          <a:bodyPr lIns="0" tIns="0" rIns="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Segoe UI"/>
              </a:rPr>
              <a:t>Intent Router</a:t>
            </a:r>
          </a:p>
          <a:p>
            <a:pPr algn="ctr"/>
            <a:r>
              <a:rPr lang="en-US" sz="1000" dirty="0">
                <a:solidFill>
                  <a:srgbClr val="D6E4F0"/>
                </a:solidFill>
                <a:latin typeface="Segoe UI"/>
              </a:rPr>
              <a:t>LoRA Adapter</a:t>
            </a:r>
          </a:p>
        </p:txBody>
      </p:sp>
      <p:sp>
        <p:nvSpPr>
          <p:cNvPr id="14" name="VL"/>
          <p:cNvSpPr/>
          <p:nvPr/>
        </p:nvSpPr>
        <p:spPr>
          <a:xfrm>
            <a:off x="5054600" y="2354580"/>
            <a:ext cx="25400" cy="2603500"/>
          </a:xfrm>
          <a:prstGeom prst="rect">
            <a:avLst/>
          </a:prstGeom>
          <a:solidFill>
            <a:srgbClr val="4A90D9">
              <a:alpha val="4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HL"/>
          <p:cNvSpPr/>
          <p:nvPr/>
        </p:nvSpPr>
        <p:spPr>
          <a:xfrm>
            <a:off x="4737100" y="3637280"/>
            <a:ext cx="330200" cy="25400"/>
          </a:xfrm>
          <a:prstGeom prst="rect">
            <a:avLst/>
          </a:prstGeom>
          <a:solidFill>
            <a:srgbClr val="4A90D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HB"/>
          <p:cNvSpPr/>
          <p:nvPr/>
        </p:nvSpPr>
        <p:spPr>
          <a:xfrm>
            <a:off x="5054600" y="2341880"/>
            <a:ext cx="254000" cy="25400"/>
          </a:xfrm>
          <a:prstGeom prst="rect">
            <a:avLst/>
          </a:prstGeom>
          <a:solidFill>
            <a:srgbClr val="2ECC71">
              <a:alpha val="5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TL"/>
          <p:cNvSpPr/>
          <p:nvPr/>
        </p:nvSpPr>
        <p:spPr>
          <a:xfrm>
            <a:off x="5308600" y="2189480"/>
            <a:ext cx="1206500" cy="330200"/>
          </a:xfrm>
          <a:prstGeom prst="roundRect">
            <a:avLst>
              <a:gd name="adj" fmla="val 50000"/>
            </a:avLst>
          </a:prstGeom>
          <a:solidFill>
            <a:srgbClr val="2ECC71">
              <a:alpha val="18000"/>
            </a:srgbClr>
          </a:solidFill>
          <a:ln w="9525">
            <a:solidFill>
              <a:srgbClr val="2ECC71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900" b="1" dirty="0">
                <a:solidFill>
                  <a:srgbClr val="2ECC71"/>
                </a:solidFill>
                <a:latin typeface="Segoe UI"/>
              </a:rPr>
              <a:t>Type 1: Exact Fact</a:t>
            </a:r>
          </a:p>
        </p:txBody>
      </p:sp>
      <p:sp>
        <p:nvSpPr>
          <p:cNvPr id="18" name="CA"/>
          <p:cNvSpPr/>
          <p:nvPr/>
        </p:nvSpPr>
        <p:spPr>
          <a:xfrm>
            <a:off x="6540500" y="2291080"/>
            <a:ext cx="203200" cy="10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ECC7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PB"/>
          <p:cNvSpPr/>
          <p:nvPr/>
        </p:nvSpPr>
        <p:spPr>
          <a:xfrm>
            <a:off x="6705600" y="2125980"/>
            <a:ext cx="1460500" cy="457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2ECC71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100" b="1" dirty="0">
                <a:solidFill>
                  <a:srgbClr val="1A1A2E"/>
                </a:solidFill>
                <a:latin typeface="Segoe UI"/>
              </a:rPr>
              <a:t>NL2SQL</a:t>
            </a:r>
          </a:p>
        </p:txBody>
      </p:sp>
      <p:sp>
        <p:nvSpPr>
          <p:cNvPr id="20" name="PA"/>
          <p:cNvSpPr/>
          <p:nvPr/>
        </p:nvSpPr>
        <p:spPr>
          <a:xfrm>
            <a:off x="8204200" y="2291080"/>
            <a:ext cx="228600" cy="10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ECC7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DS"/>
          <p:cNvSpPr/>
          <p:nvPr/>
        </p:nvSpPr>
        <p:spPr>
          <a:xfrm>
            <a:off x="8483600" y="2087880"/>
            <a:ext cx="1778000" cy="533400"/>
          </a:xfrm>
          <a:prstGeom prst="roundRect">
            <a:avLst>
              <a:gd name="adj" fmla="val 15000"/>
            </a:avLst>
          </a:prstGeom>
          <a:solidFill>
            <a:srgbClr val="2ECC71"/>
          </a:solidFill>
          <a:ln w="0">
            <a:noFill/>
          </a:ln>
          <a:effectLst>
            <a:outerShdw blurRad="30000" dist="15000" dir="5400000" algn="tl" rotWithShape="0">
              <a:srgbClr val="000000">
                <a:alpha val="15000"/>
              </a:srgbClr>
            </a:outerShdw>
          </a:effectLst>
        </p:spPr>
        <p:txBody>
          <a:bodyPr lIns="50800" tIns="0" rIns="50800" bIns="0"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Segoe UI"/>
              </a:rPr>
              <a:t>SQLite</a:t>
            </a:r>
          </a:p>
          <a:p>
            <a:pPr algn="ctr"/>
            <a:r>
              <a:rPr lang="en-US" sz="800" dirty="0">
                <a:solidFill>
                  <a:srgbClr val="EEEEFF"/>
                </a:solidFill>
                <a:latin typeface="Segoe UI"/>
              </a:rPr>
              <a:t>40K XBRL rows</a:t>
            </a:r>
          </a:p>
        </p:txBody>
      </p:sp>
      <p:sp>
        <p:nvSpPr>
          <p:cNvPr id="22" name="DA"/>
          <p:cNvSpPr/>
          <p:nvPr/>
        </p:nvSpPr>
        <p:spPr>
          <a:xfrm>
            <a:off x="10299700" y="2291080"/>
            <a:ext cx="152400" cy="25400"/>
          </a:xfrm>
          <a:prstGeom prst="rect">
            <a:avLst/>
          </a:prstGeom>
          <a:solidFill>
            <a:srgbClr val="2ECC71">
              <a:alpha val="35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" name="HB"/>
          <p:cNvSpPr/>
          <p:nvPr/>
        </p:nvSpPr>
        <p:spPr>
          <a:xfrm>
            <a:off x="5054600" y="3649980"/>
            <a:ext cx="254000" cy="25400"/>
          </a:xfrm>
          <a:prstGeom prst="rect">
            <a:avLst/>
          </a:prstGeom>
          <a:solidFill>
            <a:srgbClr val="E67E22">
              <a:alpha val="5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TL"/>
          <p:cNvSpPr/>
          <p:nvPr/>
        </p:nvSpPr>
        <p:spPr>
          <a:xfrm>
            <a:off x="5308600" y="3497580"/>
            <a:ext cx="1206500" cy="330200"/>
          </a:xfrm>
          <a:prstGeom prst="roundRect">
            <a:avLst>
              <a:gd name="adj" fmla="val 50000"/>
            </a:avLst>
          </a:prstGeom>
          <a:solidFill>
            <a:srgbClr val="E67E22">
              <a:alpha val="18000"/>
            </a:srgbClr>
          </a:solidFill>
          <a:ln w="9525">
            <a:solidFill>
              <a:srgbClr val="E67E22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900" b="1" dirty="0">
                <a:solidFill>
                  <a:srgbClr val="E67E22"/>
                </a:solidFill>
                <a:latin typeface="Segoe UI"/>
              </a:rPr>
              <a:t>Type 2: Qualitative</a:t>
            </a:r>
          </a:p>
        </p:txBody>
      </p:sp>
      <p:sp>
        <p:nvSpPr>
          <p:cNvPr id="25" name="CA"/>
          <p:cNvSpPr/>
          <p:nvPr/>
        </p:nvSpPr>
        <p:spPr>
          <a:xfrm>
            <a:off x="6540500" y="3599180"/>
            <a:ext cx="203200" cy="10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67E22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PB"/>
          <p:cNvSpPr/>
          <p:nvPr/>
        </p:nvSpPr>
        <p:spPr>
          <a:xfrm>
            <a:off x="6705600" y="3434080"/>
            <a:ext cx="1460500" cy="457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67E22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100" b="1" dirty="0">
                <a:solidFill>
                  <a:srgbClr val="1A1A2E"/>
                </a:solidFill>
                <a:latin typeface="Segoe UI"/>
              </a:rPr>
              <a:t>Query Rewrite</a:t>
            </a:r>
          </a:p>
        </p:txBody>
      </p:sp>
      <p:sp>
        <p:nvSpPr>
          <p:cNvPr id="27" name="PA"/>
          <p:cNvSpPr/>
          <p:nvPr/>
        </p:nvSpPr>
        <p:spPr>
          <a:xfrm>
            <a:off x="8204200" y="3599180"/>
            <a:ext cx="228600" cy="10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67E22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8" name="DS"/>
          <p:cNvSpPr/>
          <p:nvPr/>
        </p:nvSpPr>
        <p:spPr>
          <a:xfrm>
            <a:off x="8483600" y="3395980"/>
            <a:ext cx="1778000" cy="533400"/>
          </a:xfrm>
          <a:prstGeom prst="roundRect">
            <a:avLst>
              <a:gd name="adj" fmla="val 15000"/>
            </a:avLst>
          </a:prstGeom>
          <a:solidFill>
            <a:srgbClr val="E67E22"/>
          </a:solidFill>
          <a:ln w="0">
            <a:noFill/>
          </a:ln>
          <a:effectLst>
            <a:outerShdw blurRad="30000" dist="15000" dir="5400000" algn="tl" rotWithShape="0">
              <a:srgbClr val="000000">
                <a:alpha val="15000"/>
              </a:srgbClr>
            </a:outerShdw>
          </a:effectLst>
        </p:spPr>
        <p:txBody>
          <a:bodyPr lIns="50800" tIns="0" rIns="50800" bIns="0"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Segoe UI"/>
              </a:rPr>
              <a:t>Hybrid RAG</a:t>
            </a:r>
          </a:p>
          <a:p>
            <a:pPr algn="ctr"/>
            <a:r>
              <a:rPr lang="en-US" sz="800" dirty="0">
                <a:solidFill>
                  <a:srgbClr val="EEEEFF"/>
                </a:solidFill>
                <a:latin typeface="Segoe UI"/>
              </a:rPr>
              <a:t>BM25 + Dense + Cross-Encoder</a:t>
            </a:r>
          </a:p>
        </p:txBody>
      </p:sp>
      <p:sp>
        <p:nvSpPr>
          <p:cNvPr id="29" name="DA"/>
          <p:cNvSpPr/>
          <p:nvPr/>
        </p:nvSpPr>
        <p:spPr>
          <a:xfrm>
            <a:off x="10299700" y="3599180"/>
            <a:ext cx="152400" cy="25400"/>
          </a:xfrm>
          <a:prstGeom prst="rect">
            <a:avLst/>
          </a:prstGeom>
          <a:solidFill>
            <a:srgbClr val="E67E22">
              <a:alpha val="35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HB"/>
          <p:cNvSpPr/>
          <p:nvPr/>
        </p:nvSpPr>
        <p:spPr>
          <a:xfrm>
            <a:off x="5054600" y="4945380"/>
            <a:ext cx="254000" cy="25400"/>
          </a:xfrm>
          <a:prstGeom prst="rect">
            <a:avLst/>
          </a:prstGeom>
          <a:solidFill>
            <a:srgbClr val="9B59B6">
              <a:alpha val="5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" name="TL"/>
          <p:cNvSpPr/>
          <p:nvPr/>
        </p:nvSpPr>
        <p:spPr>
          <a:xfrm>
            <a:off x="5308600" y="4792980"/>
            <a:ext cx="1206500" cy="330200"/>
          </a:xfrm>
          <a:prstGeom prst="roundRect">
            <a:avLst>
              <a:gd name="adj" fmla="val 50000"/>
            </a:avLst>
          </a:prstGeom>
          <a:solidFill>
            <a:srgbClr val="9B59B6">
              <a:alpha val="18000"/>
            </a:srgbClr>
          </a:solidFill>
          <a:ln w="9525">
            <a:solidFill>
              <a:srgbClr val="9B59B6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900" b="1" dirty="0">
                <a:solidFill>
                  <a:srgbClr val="9B59B6"/>
                </a:solidFill>
                <a:latin typeface="Segoe UI"/>
              </a:rPr>
              <a:t>Type 3: Chat</a:t>
            </a:r>
          </a:p>
        </p:txBody>
      </p:sp>
      <p:sp>
        <p:nvSpPr>
          <p:cNvPr id="32" name="CA"/>
          <p:cNvSpPr/>
          <p:nvPr/>
        </p:nvSpPr>
        <p:spPr>
          <a:xfrm>
            <a:off x="6540500" y="4894580"/>
            <a:ext cx="203200" cy="10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B59B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" name="PB"/>
          <p:cNvSpPr/>
          <p:nvPr/>
        </p:nvSpPr>
        <p:spPr>
          <a:xfrm>
            <a:off x="6705600" y="4729480"/>
            <a:ext cx="1460500" cy="457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9B59B6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100" b="1" dirty="0">
                <a:solidFill>
                  <a:srgbClr val="1A1A2E"/>
                </a:solidFill>
                <a:latin typeface="Segoe UI"/>
              </a:rPr>
              <a:t>Direct Answer</a:t>
            </a:r>
          </a:p>
        </p:txBody>
      </p:sp>
      <p:sp>
        <p:nvSpPr>
          <p:cNvPr id="34" name="DA3"/>
          <p:cNvSpPr/>
          <p:nvPr/>
        </p:nvSpPr>
        <p:spPr>
          <a:xfrm>
            <a:off x="8204200" y="4945380"/>
            <a:ext cx="2247900" cy="25400"/>
          </a:xfrm>
          <a:prstGeom prst="rect">
            <a:avLst/>
          </a:prstGeom>
          <a:solidFill>
            <a:srgbClr val="9B59B6">
              <a:alpha val="35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5" name="Chroma"/>
          <p:cNvSpPr/>
          <p:nvPr/>
        </p:nvSpPr>
        <p:spPr>
          <a:xfrm>
            <a:off x="8547100" y="4132580"/>
            <a:ext cx="1651000" cy="457200"/>
          </a:xfrm>
          <a:prstGeom prst="roundRect">
            <a:avLst>
              <a:gd name="adj" fmla="val 15000"/>
            </a:avLst>
          </a:prstGeom>
          <a:solidFill>
            <a:srgbClr val="E8ECF1"/>
          </a:solidFill>
          <a:ln w="12700">
            <a:solidFill>
              <a:srgbClr val="E67E22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000" b="1" dirty="0">
                <a:solidFill>
                  <a:srgbClr val="1A1A2E"/>
                </a:solidFill>
                <a:latin typeface="Segoe UI"/>
              </a:rPr>
              <a:t>ChromaDB</a:t>
            </a:r>
          </a:p>
          <a:p>
            <a:pPr algn="ctr"/>
            <a:r>
              <a:rPr lang="en-US" sz="800" dirty="0">
                <a:solidFill>
                  <a:srgbClr val="666666"/>
                </a:solidFill>
                <a:latin typeface="Segoe UI"/>
              </a:rPr>
              <a:t>516K vector chunks</a:t>
            </a:r>
          </a:p>
        </p:txBody>
      </p:sp>
      <p:sp>
        <p:nvSpPr>
          <p:cNvPr id="36" name="VC"/>
          <p:cNvSpPr/>
          <p:nvPr/>
        </p:nvSpPr>
        <p:spPr>
          <a:xfrm>
            <a:off x="9359900" y="3929380"/>
            <a:ext cx="25400" cy="203200"/>
          </a:xfrm>
          <a:prstGeom prst="rect">
            <a:avLst/>
          </a:prstGeom>
          <a:solidFill>
            <a:srgbClr val="E67E22">
              <a:alpha val="4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AnsGen"/>
          <p:cNvSpPr/>
          <p:nvPr/>
        </p:nvSpPr>
        <p:spPr>
          <a:xfrm>
            <a:off x="10515600" y="2062480"/>
            <a:ext cx="1270000" cy="3187700"/>
          </a:xfrm>
          <a:prstGeom prst="roundRect">
            <a:avLst>
              <a:gd name="adj" fmla="val 12000"/>
            </a:avLst>
          </a:prstGeom>
          <a:solidFill>
            <a:srgbClr val="1A1A2E"/>
          </a:solidFill>
          <a:ln w="0">
            <a:noFill/>
          </a:ln>
          <a:effectLst>
            <a:outerShdw blurRad="50000" dist="25000" dir="5400000" algn="tl" rotWithShape="0">
              <a:srgbClr val="000000">
                <a:alpha val="25000"/>
              </a:srgbClr>
            </a:outerShdw>
          </a:effectLst>
        </p:spPr>
        <p:txBody>
          <a:bodyPr lIns="76200" tIns="0" rIns="7620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Segoe UI"/>
              </a:rPr>
              <a:t>Answer</a:t>
            </a:r>
          </a:p>
          <a:p>
            <a:pPr algn="ctr"/>
            <a:r>
              <a:rPr lang="en-US" sz="1300" b="1" dirty="0">
                <a:solidFill>
                  <a:srgbClr val="FFFFFF"/>
                </a:solidFill>
                <a:latin typeface="Segoe UI"/>
              </a:rPr>
              <a:t>Generation</a:t>
            </a:r>
          </a:p>
        </p:txBody>
      </p:sp>
      <p:sp>
        <p:nvSpPr>
          <p:cNvPr id="41" name="T3Sub"/>
          <p:cNvSpPr/>
          <p:nvPr/>
        </p:nvSpPr>
        <p:spPr>
          <a:xfrm>
            <a:off x="6705600" y="5186680"/>
            <a:ext cx="1460500" cy="203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ctr"/>
            <a:r>
              <a:rPr lang="en-US" sz="800" i="1" dirty="0">
                <a:solidFill>
                  <a:srgbClr val="999999"/>
                </a:solidFill>
                <a:latin typeface="Segoe UI"/>
              </a:rPr>
              <a:t>No retrieval needed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E29435-F6F4-966F-E989-0380ECDC8FBF}"/>
              </a:ext>
            </a:extLst>
          </p:cNvPr>
          <p:cNvSpPr txBox="1"/>
          <p:nvPr/>
        </p:nvSpPr>
        <p:spPr>
          <a:xfrm>
            <a:off x="575096" y="6114627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AAAABB"/>
                </a:solidFill>
              </a:defRPr>
            </a:pPr>
            <a:r>
              <a:rPr dirty="0"/>
              <a:t>92 S&amp;P 100 tickers | 2019-2024 | ~120K text chunks + ~40K structured XBRL rows</a:t>
            </a:r>
          </a:p>
        </p:txBody>
      </p:sp>
    </p:spTree>
    <p:extLst>
      <p:ext uri="{BB962C8B-B14F-4D97-AF65-F5344CB8AC3E}">
        <p14:creationId xmlns:p14="http://schemas.microsoft.com/office/powerpoint/2010/main" val="1628837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2079224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rPr lang="en-US" dirty="0"/>
              <a:t>Motivation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4864"/>
          </a:xfrm>
          <a:prstGeom prst="rect">
            <a:avLst/>
          </a:prstGeom>
          <a:solidFill>
            <a:srgbClr val="006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55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rPr lang="en-US" b="1" dirty="0"/>
              <a:t>Accuracy:</a:t>
            </a:r>
          </a:p>
          <a:p>
            <a:pPr>
              <a:spcAft>
                <a:spcPts val="1200"/>
              </a:spcAft>
            </a:pPr>
            <a:r>
              <a:rPr sz="2000" dirty="0">
                <a:solidFill>
                  <a:srgbClr val="333333"/>
                </a:solidFill>
              </a:rPr>
              <a:t>Cloud LLM APIs (GPT-4o) have </a:t>
            </a:r>
            <a:r>
              <a:rPr sz="2000" b="1" dirty="0">
                <a:solidFill>
                  <a:srgbClr val="333333"/>
                </a:solidFill>
              </a:rPr>
              <a:t>knowledge cutoff issues</a:t>
            </a:r>
            <a:r>
              <a:rPr sz="2000" dirty="0">
                <a:solidFill>
                  <a:srgbClr val="333333"/>
                </a:solidFill>
              </a:rPr>
              <a:t> -- miss recent FY2023 data</a:t>
            </a:r>
          </a:p>
          <a:p>
            <a:pPr>
              <a:spcAft>
                <a:spcPts val="1200"/>
              </a:spcAft>
            </a:pPr>
            <a:r>
              <a:rPr sz="2000" dirty="0">
                <a:solidFill>
                  <a:srgbClr val="333333"/>
                </a:solidFill>
              </a:rPr>
              <a:t>Cloud APIs </a:t>
            </a:r>
            <a:r>
              <a:rPr sz="2000" b="1" dirty="0">
                <a:solidFill>
                  <a:srgbClr val="333333"/>
                </a:solidFill>
              </a:rPr>
              <a:t>hallucinate financial numbers</a:t>
            </a:r>
            <a:r>
              <a:rPr sz="2000" dirty="0">
                <a:solidFill>
                  <a:srgbClr val="333333"/>
                </a:solidFill>
              </a:rPr>
              <a:t> -- 42.9% value accuracy on our benchmark</a:t>
            </a:r>
            <a:endParaRPr lang="en-US" sz="2000" dirty="0">
              <a:solidFill>
                <a:srgbClr val="333333"/>
              </a:solidFill>
            </a:endParaRPr>
          </a:p>
          <a:p>
            <a:pPr>
              <a:spcAft>
                <a:spcPts val="1200"/>
              </a:spcAft>
            </a:pPr>
            <a:r>
              <a:rPr lang="en-US" sz="2000" b="1" dirty="0">
                <a:solidFill>
                  <a:srgbClr val="333333"/>
                </a:solidFill>
              </a:rPr>
              <a:t>Privacy:</a:t>
            </a:r>
            <a:endParaRPr sz="2000" b="1" dirty="0">
              <a:solidFill>
                <a:srgbClr val="333333"/>
              </a:solidFill>
            </a:endParaRP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rPr lang="en-US" dirty="0"/>
              <a:t>S</a:t>
            </a:r>
            <a:r>
              <a:rPr dirty="0"/>
              <a:t>ending proprietary financial queries to external APIs</a:t>
            </a:r>
            <a:endParaRPr lang="en-US" dirty="0"/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rPr lang="en-US" b="1" dirty="0"/>
              <a:t>Cost:</a:t>
            </a:r>
            <a:endParaRPr b="1" dirty="0"/>
          </a:p>
          <a:p>
            <a:pPr>
              <a:spcAft>
                <a:spcPts val="1200"/>
              </a:spcAft>
            </a:pPr>
            <a:r>
              <a:rPr lang="en-US" sz="2000" dirty="0"/>
              <a:t>GPT-4o: $2.50 / 1M input tokens and $10 / 1M output tokens</a:t>
            </a:r>
          </a:p>
          <a:p>
            <a:pPr>
              <a:spcAft>
                <a:spcPts val="1200"/>
              </a:spcAft>
            </a:pPr>
            <a:r>
              <a:rPr lang="en-US" sz="2000" b="1" dirty="0">
                <a:solidFill>
                  <a:srgbClr val="FF0000"/>
                </a:solidFill>
              </a:rPr>
              <a:t>Speed:</a:t>
            </a:r>
          </a:p>
          <a:p>
            <a:pPr>
              <a:spcAft>
                <a:spcPts val="1200"/>
              </a:spcAft>
            </a:pPr>
            <a:r>
              <a:rPr lang="en-US" sz="2000" dirty="0"/>
              <a:t>Run Three different module in a local device with 26GB memory space is challenge.</a:t>
            </a:r>
          </a:p>
          <a:p>
            <a:pPr>
              <a:spcAft>
                <a:spcPts val="1200"/>
              </a:spcAft>
            </a:pPr>
            <a:endParaRPr sz="2000" dirty="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27DB6-8C17-B45C-62ED-541CA714F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08F50E-3B45-62DE-D865-16FCBB00166D}"/>
              </a:ext>
            </a:extLst>
          </p:cNvPr>
          <p:cNvSpPr txBox="1"/>
          <p:nvPr/>
        </p:nvSpPr>
        <p:spPr>
          <a:xfrm>
            <a:off x="731520" y="365760"/>
            <a:ext cx="7924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rPr lang="en-US" dirty="0"/>
              <a:t>vLLM Solve the Problem: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4A7C75-BD40-3FB0-D576-C021E4D5B607}"/>
              </a:ext>
            </a:extLst>
          </p:cNvPr>
          <p:cNvSpPr/>
          <p:nvPr/>
        </p:nvSpPr>
        <p:spPr>
          <a:xfrm>
            <a:off x="731520" y="1188720"/>
            <a:ext cx="1371600" cy="54864"/>
          </a:xfrm>
          <a:prstGeom prst="rect">
            <a:avLst/>
          </a:prstGeom>
          <a:solidFill>
            <a:srgbClr val="006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A5AA6A-124B-7731-4E38-24783D64DE52}"/>
              </a:ext>
            </a:extLst>
          </p:cNvPr>
          <p:cNvSpPr txBox="1"/>
          <p:nvPr/>
        </p:nvSpPr>
        <p:spPr>
          <a:xfrm>
            <a:off x="4646506" y="2602654"/>
            <a:ext cx="1612054" cy="707886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LLM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36775D8-A919-189F-88BC-F23AEA5900C9}"/>
              </a:ext>
            </a:extLst>
          </p:cNvPr>
          <p:cNvCxnSpPr/>
          <p:nvPr/>
        </p:nvCxnSpPr>
        <p:spPr>
          <a:xfrm>
            <a:off x="3075093" y="3027680"/>
            <a:ext cx="149013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D97EAC82-D245-7E79-0677-392E42F11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880" y="1481769"/>
            <a:ext cx="9421707" cy="5169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55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Quantization Strategy: FP16 vs INT8 vs AWQ4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54864"/>
          </a:xfrm>
          <a:prstGeom prst="rect">
            <a:avLst/>
          </a:prstGeom>
          <a:solidFill>
            <a:srgbClr val="006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3338273"/>
              </p:ext>
            </p:extLst>
          </p:nvPr>
        </p:nvGraphicFramePr>
        <p:xfrm>
          <a:off x="1889760" y="2406650"/>
          <a:ext cx="8412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006D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Weight Size</a:t>
                      </a:r>
                    </a:p>
                  </a:txBody>
                  <a:tcPr anchor="ctr">
                    <a:solidFill>
                      <a:srgbClr val="006D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VRAM (weights)</a:t>
                      </a:r>
                    </a:p>
                  </a:txBody>
                  <a:tcPr anchor="ctr">
                    <a:solidFill>
                      <a:srgbClr val="006D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KV Cache Budget</a:t>
                      </a:r>
                    </a:p>
                  </a:txBody>
                  <a:tcPr anchor="ctr">
                    <a:solidFill>
                      <a:srgbClr val="006D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FP16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16-bit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~6 GB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~18 GB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INT8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8-bit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~3 GB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~21 GB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AWQ4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4-bit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~1.5 GB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~22.5 GB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973907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rPr dirty="0"/>
              <a:t>Accuracy: Unified 52-Case Benchmark</a:t>
            </a:r>
            <a:r>
              <a:rPr lang="en-US" dirty="0"/>
              <a:t> Compare with GPT-4o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54864"/>
          </a:xfrm>
          <a:prstGeom prst="rect">
            <a:avLst/>
          </a:prstGeom>
          <a:solidFill>
            <a:srgbClr val="006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ccura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5156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126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AAAABB"/>
                </a:solidFill>
              </a:defRPr>
            </a:pPr>
            <a:r>
              <a:t>AWQ4 achieves the highest overall composite score (0.904), crossing the 0.9 target. GPT-4o fails on Type1 due to knowledge cutoff.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6388928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rPr lang="en-US" dirty="0"/>
              <a:t>Performance</a:t>
            </a:r>
            <a:r>
              <a:rPr dirty="0"/>
              <a:t>:</a:t>
            </a:r>
            <a:r>
              <a:rPr lang="en-US" dirty="0"/>
              <a:t> Throughput  and Latency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54864"/>
          </a:xfrm>
          <a:prstGeom prst="rect">
            <a:avLst/>
          </a:prstGeom>
          <a:solidFill>
            <a:srgbClr val="006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29D159-7C72-B92A-25E6-BDD25FCC99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41955"/>
            <a:ext cx="9859857" cy="381228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C1B600-5EA6-96D5-6AD7-832577DFC105}"/>
              </a:ext>
            </a:extLst>
          </p:cNvPr>
          <p:cNvSpPr txBox="1"/>
          <p:nvPr/>
        </p:nvSpPr>
        <p:spPr>
          <a:xfrm>
            <a:off x="482600" y="6089650"/>
            <a:ext cx="10255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AWQ4 have best performance in local device.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Final Results: AWQ4 vs Cloud (GPT-4o)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54864"/>
          </a:xfrm>
          <a:prstGeom prst="rect">
            <a:avLst/>
          </a:prstGeom>
          <a:solidFill>
            <a:srgbClr val="006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2000034"/>
              </p:ext>
            </p:extLst>
          </p:nvPr>
        </p:nvGraphicFramePr>
        <p:xfrm>
          <a:off x="731520" y="1371600"/>
          <a:ext cx="10515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006D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AWQ4 (Local)</a:t>
                      </a:r>
                    </a:p>
                  </a:txBody>
                  <a:tcPr anchor="ctr">
                    <a:solidFill>
                      <a:srgbClr val="006D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GPT-4o (API)</a:t>
                      </a:r>
                    </a:p>
                  </a:txBody>
                  <a:tcPr anchor="ctr">
                    <a:solidFill>
                      <a:srgbClr val="006D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Composite Accuracy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rPr dirty="0">
                          <a:solidFill>
                            <a:srgbClr val="FF0000"/>
                          </a:solidFill>
                        </a:rPr>
                        <a:t>0.9038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rPr dirty="0">
                          <a:solidFill>
                            <a:srgbClr val="FF0000"/>
                          </a:solidFill>
                        </a:rPr>
                        <a:t>0.6467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Value Accuracy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42.9%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Intent Accuracy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Keyword Hit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93.9%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75.7%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Fluency (1-5)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3.4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4.7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Latency p50 (c=1)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0.53s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0.85s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Peak QPS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rPr dirty="0">
                          <a:solidFill>
                            <a:srgbClr val="FF0000"/>
                          </a:solidFill>
                        </a:rPr>
                        <a:t>3.46 (c=16)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rPr dirty="0">
                          <a:solidFill>
                            <a:srgbClr val="FF0000"/>
                          </a:solidFill>
                        </a:rPr>
                        <a:t>7.03 (c=8)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Cost per 1K queries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rPr dirty="0">
                          <a:solidFill>
                            <a:srgbClr val="FF0000"/>
                          </a:solidFill>
                        </a:rPr>
                        <a:t>~$0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rPr dirty="0">
                          <a:solidFill>
                            <a:srgbClr val="FF0000"/>
                          </a:solidFill>
                        </a:rPr>
                        <a:t>~$15-30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Data Privacy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Fully local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Sent to OpenAI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4468083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rPr lang="en-US" dirty="0"/>
              <a:t>Conclusion </a:t>
            </a:r>
            <a:r>
              <a:rPr dirty="0"/>
              <a:t>&amp; </a:t>
            </a:r>
            <a:r>
              <a:rPr lang="en-US" dirty="0"/>
              <a:t>Future Plan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4864"/>
          </a:xfrm>
          <a:prstGeom prst="rect">
            <a:avLst/>
          </a:prstGeom>
          <a:solidFill>
            <a:srgbClr val="006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575852"/>
            <a:ext cx="10515600" cy="27084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 dirty="0">
                <a:solidFill>
                  <a:srgbClr val="333333"/>
                </a:solidFill>
              </a:rPr>
              <a:t>Conclusion:</a:t>
            </a:r>
            <a:r>
              <a:rPr sz="2000" dirty="0">
                <a:solidFill>
                  <a:srgbClr val="333333"/>
                </a:solidFill>
              </a:rPr>
              <a:t> </a:t>
            </a:r>
            <a:endParaRPr lang="en-US" sz="2000" dirty="0">
              <a:solidFill>
                <a:srgbClr val="333333"/>
              </a:solidFill>
            </a:endParaRPr>
          </a:p>
          <a:p>
            <a:pPr>
              <a:spcAft>
                <a:spcPts val="1200"/>
              </a:spcAft>
            </a:pPr>
            <a:r>
              <a:rPr sz="2000" dirty="0">
                <a:solidFill>
                  <a:srgbClr val="333333"/>
                </a:solidFill>
              </a:rPr>
              <a:t>A local 3B model with </a:t>
            </a:r>
            <a:r>
              <a:rPr lang="en-US" sz="2000" dirty="0">
                <a:solidFill>
                  <a:srgbClr val="333333"/>
                </a:solidFill>
              </a:rPr>
              <a:t>LoRA SFT and </a:t>
            </a:r>
            <a:r>
              <a:rPr sz="2000" dirty="0">
                <a:solidFill>
                  <a:srgbClr val="333333"/>
                </a:solidFill>
              </a:rPr>
              <a:t>AWQ4 </a:t>
            </a:r>
            <a:r>
              <a:rPr lang="en-US" sz="2000" dirty="0">
                <a:solidFill>
                  <a:srgbClr val="333333"/>
                </a:solidFill>
              </a:rPr>
              <a:t>Quantization </a:t>
            </a:r>
            <a:r>
              <a:rPr sz="2000" dirty="0">
                <a:solidFill>
                  <a:srgbClr val="333333"/>
                </a:solidFill>
              </a:rPr>
              <a:t>+ vLLM achieves 0.90 accuracy,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100% value accuracy, and 0.53s latency -- beating GPT-4o on financial QA at $0/query.</a:t>
            </a:r>
            <a:endParaRPr lang="en-US" b="1" dirty="0"/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rPr lang="en-US" b="1" dirty="0"/>
              <a:t>Future Plan:</a:t>
            </a:r>
          </a:p>
          <a:p>
            <a:pPr>
              <a:spcAft>
                <a:spcPts val="1200"/>
              </a:spcAft>
            </a:pPr>
            <a:r>
              <a:rPr lang="en-US" sz="2000" dirty="0">
                <a:solidFill>
                  <a:srgbClr val="333333"/>
                </a:solidFill>
              </a:rPr>
              <a:t>Fluency gap – larger scale answer generator </a:t>
            </a:r>
          </a:p>
          <a:p>
            <a:pPr>
              <a:spcAft>
                <a:spcPts val="1200"/>
              </a:spcAft>
            </a:pPr>
            <a:r>
              <a:rPr lang="en-US" sz="2000" dirty="0">
                <a:solidFill>
                  <a:srgbClr val="333333"/>
                </a:solidFill>
              </a:rPr>
              <a:t>Multi-GPU scaling -- tensor parallelism or load-balanced vLLM for &gt;5 QPS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DDF6C7A-1664-10B4-C151-1FCE918B6FA8}"/>
              </a:ext>
            </a:extLst>
          </p:cNvPr>
          <p:cNvGrpSpPr/>
          <p:nvPr/>
        </p:nvGrpSpPr>
        <p:grpSpPr>
          <a:xfrm>
            <a:off x="5028882" y="4458495"/>
            <a:ext cx="1920875" cy="2132131"/>
            <a:chOff x="5262038" y="4534695"/>
            <a:chExt cx="1920875" cy="213213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0058A88-586A-E4FE-1DEB-2E73AF5A47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62038" y="4534695"/>
              <a:ext cx="1920875" cy="1920875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76BB204-DDF7-629B-1E10-B1EB8A684A15}"/>
                </a:ext>
              </a:extLst>
            </p:cNvPr>
            <p:cNvSpPr txBox="1"/>
            <p:nvPr/>
          </p:nvSpPr>
          <p:spPr>
            <a:xfrm>
              <a:off x="5599653" y="6297494"/>
              <a:ext cx="12456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Github Link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F3D1F06C-B1B1-4286-A4F5-CD3CB28D416D}">
  <we:reference id="WA200007130" version="1.0.0.1" store="Omex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1142A0B8-316D-40C6-AFEE-307B9A856519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bbce7fc7-fc19-4a41-992f-7fa47e59c90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399</Words>
  <Application>Microsoft Office PowerPoint</Application>
  <PresentationFormat>Widescreen</PresentationFormat>
  <Paragraphs>94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Zhao, Yuan</cp:lastModifiedBy>
  <cp:revision>7</cp:revision>
  <dcterms:created xsi:type="dcterms:W3CDTF">2013-01-27T09:14:16Z</dcterms:created>
  <dcterms:modified xsi:type="dcterms:W3CDTF">2026-05-06T03:26:52Z</dcterms:modified>
  <cp:category/>
</cp:coreProperties>
</file>